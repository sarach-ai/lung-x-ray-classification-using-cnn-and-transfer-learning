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92" r:id="rId6"/>
    <p:sldId id="260" r:id="rId7"/>
    <p:sldId id="261" r:id="rId8"/>
    <p:sldId id="290" r:id="rId9"/>
    <p:sldId id="289" r:id="rId10"/>
    <p:sldId id="262" r:id="rId11"/>
    <p:sldId id="293" r:id="rId12"/>
    <p:sldId id="277" r:id="rId13"/>
    <p:sldId id="283" r:id="rId14"/>
    <p:sldId id="286" r:id="rId15"/>
    <p:sldId id="296" r:id="rId16"/>
    <p:sldId id="294" r:id="rId17"/>
    <p:sldId id="278" r:id="rId18"/>
    <p:sldId id="280" r:id="rId19"/>
    <p:sldId id="272" r:id="rId20"/>
    <p:sldId id="282" r:id="rId21"/>
    <p:sldId id="284" r:id="rId22"/>
    <p:sldId id="273" r:id="rId23"/>
    <p:sldId id="274" r:id="rId24"/>
    <p:sldId id="291" r:id="rId25"/>
    <p:sldId id="281" r:id="rId26"/>
    <p:sldId id="298" r:id="rId27"/>
    <p:sldId id="297" r:id="rId28"/>
    <p:sldId id="287" r:id="rId2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>
      <p:cViewPr varScale="1">
        <p:scale>
          <a:sx n="141" d="100"/>
          <a:sy n="141" d="100"/>
        </p:scale>
        <p:origin x="1120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133" y="326174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516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319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52" y="325142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83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52" y="3264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51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52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619" y="32514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418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619" y="328952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86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9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41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42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004"/>
            <a:ext cx="24695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133" y="326174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516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319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52" y="325142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83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52" y="3264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51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52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619" y="32514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418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619" y="328952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86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9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41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42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133" y="326174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516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319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52" y="325142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83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52" y="3264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51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52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619" y="32514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418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619" y="328952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86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9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41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42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27914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00249"/>
            <a:ext cx="3302635" cy="1113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19980" y="3334738"/>
            <a:ext cx="41909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956" y="3322038"/>
            <a:ext cx="252729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‹#›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slide" Target="slide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452449"/>
            <a:ext cx="4483736" cy="943528"/>
            <a:chOff x="87743" y="452449"/>
            <a:chExt cx="4483735" cy="942975"/>
          </a:xfrm>
        </p:grpSpPr>
        <p:sp>
          <p:nvSpPr>
            <p:cNvPr id="3" name="object 3"/>
            <p:cNvSpPr/>
            <p:nvPr/>
          </p:nvSpPr>
          <p:spPr>
            <a:xfrm>
              <a:off x="87743" y="452449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515708"/>
              <a:ext cx="4432935" cy="880110"/>
            </a:xfrm>
            <a:custGeom>
              <a:avLst/>
              <a:gdLst/>
              <a:ahLst/>
              <a:cxnLst/>
              <a:rect l="l" t="t" r="r" b="b"/>
              <a:pathLst>
                <a:path w="4432935" h="880110">
                  <a:moveTo>
                    <a:pt x="4432567" y="0"/>
                  </a:moveTo>
                  <a:lnTo>
                    <a:pt x="0" y="0"/>
                  </a:lnTo>
                  <a:lnTo>
                    <a:pt x="0" y="879489"/>
                  </a:lnTo>
                  <a:lnTo>
                    <a:pt x="4432567" y="879489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496871"/>
              <a:ext cx="4432935" cy="847725"/>
            </a:xfrm>
            <a:custGeom>
              <a:avLst/>
              <a:gdLst/>
              <a:ahLst/>
              <a:cxnLst/>
              <a:rect l="l" t="t" r="r" b="b"/>
              <a:pathLst>
                <a:path w="4432935" h="847725">
                  <a:moveTo>
                    <a:pt x="4432567" y="0"/>
                  </a:moveTo>
                  <a:lnTo>
                    <a:pt x="0" y="0"/>
                  </a:lnTo>
                  <a:lnTo>
                    <a:pt x="0" y="796724"/>
                  </a:lnTo>
                  <a:lnTo>
                    <a:pt x="4008" y="816449"/>
                  </a:lnTo>
                  <a:lnTo>
                    <a:pt x="14922" y="832602"/>
                  </a:lnTo>
                  <a:lnTo>
                    <a:pt x="31075" y="843516"/>
                  </a:lnTo>
                  <a:lnTo>
                    <a:pt x="50800" y="847525"/>
                  </a:lnTo>
                  <a:lnTo>
                    <a:pt x="4381766" y="847525"/>
                  </a:lnTo>
                  <a:lnTo>
                    <a:pt x="4401491" y="843516"/>
                  </a:lnTo>
                  <a:lnTo>
                    <a:pt x="4417644" y="832602"/>
                  </a:lnTo>
                  <a:lnTo>
                    <a:pt x="4428558" y="816449"/>
                  </a:lnTo>
                  <a:lnTo>
                    <a:pt x="4432567" y="796724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0597" y="471846"/>
            <a:ext cx="4382135" cy="898323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99440" marR="693420" algn="ctr">
              <a:spcBef>
                <a:spcPts val="345"/>
              </a:spcBef>
            </a:pP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Lung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X-Ray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Classification</a:t>
            </a:r>
            <a:r>
              <a:rPr sz="14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Using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CNN</a:t>
            </a:r>
            <a:r>
              <a:rPr lang="en-US" sz="1400" spc="-15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lang="en-US"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EﬀicientNetB0</a:t>
            </a:r>
            <a:r>
              <a:rPr lang="en-US" sz="1400" spc="-10" dirty="0">
                <a:solidFill>
                  <a:srgbClr val="FFFFFF"/>
                </a:solidFill>
                <a:latin typeface="Tahoma"/>
                <a:cs typeface="Tahoma"/>
              </a:rPr>
              <a:t>,ResNet-50 and DenseNet-121</a:t>
            </a:r>
            <a:endParaRPr sz="1400" dirty="0">
              <a:latin typeface="Tahoma"/>
              <a:cs typeface="Tahoma"/>
            </a:endParaRPr>
          </a:p>
          <a:p>
            <a:pPr marR="93980" algn="ctr">
              <a:spcBef>
                <a:spcPts val="335"/>
              </a:spcBef>
            </a:pPr>
            <a:r>
              <a:rPr sz="1100" spc="-30" dirty="0">
                <a:solidFill>
                  <a:srgbClr val="FFFFFF"/>
                </a:solidFill>
                <a:latin typeface="Arial MT"/>
                <a:cs typeface="Arial MT"/>
              </a:rPr>
              <a:t>Normal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Arial MT"/>
                <a:cs typeface="Arial MT"/>
              </a:rPr>
              <a:t>Viral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FFFFFF"/>
                </a:solidFill>
                <a:latin typeface="Arial MT"/>
                <a:cs typeface="Arial MT"/>
              </a:rPr>
              <a:t>Pneumonia</a:t>
            </a:r>
            <a:r>
              <a:rPr sz="11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Arial MT"/>
                <a:cs typeface="Arial MT"/>
              </a:rPr>
              <a:t>Detection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3037" y="1557463"/>
            <a:ext cx="1422400" cy="127637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1465" marR="283845" algn="ctr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 MT"/>
                <a:cs typeface="Arial MT"/>
              </a:rPr>
              <a:t>Bilal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Sikandar </a:t>
            </a:r>
            <a:r>
              <a:rPr sz="1100" spc="-30" dirty="0">
                <a:latin typeface="Arial MT"/>
                <a:cs typeface="Arial MT"/>
              </a:rPr>
              <a:t>Junaid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Dooast</a:t>
            </a:r>
            <a:endParaRPr sz="1100" dirty="0">
              <a:latin typeface="Arial MT"/>
              <a:cs typeface="Arial MT"/>
            </a:endParaRPr>
          </a:p>
          <a:p>
            <a:pPr marL="12065" marR="5080" algn="ctr">
              <a:lnSpc>
                <a:spcPct val="102699"/>
              </a:lnSpc>
            </a:pPr>
            <a:r>
              <a:rPr sz="1100" dirty="0">
                <a:latin typeface="Arial MT"/>
                <a:cs typeface="Arial MT"/>
              </a:rPr>
              <a:t>Haji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Husnain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Ashfaq </a:t>
            </a:r>
            <a:r>
              <a:rPr sz="1100" spc="-70" dirty="0">
                <a:latin typeface="Arial MT"/>
                <a:cs typeface="Arial MT"/>
              </a:rPr>
              <a:t>Sara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Nargis</a:t>
            </a: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 dirty="0">
              <a:latin typeface="Arial MT"/>
              <a:cs typeface="Arial MT"/>
            </a:endParaRPr>
          </a:p>
          <a:p>
            <a:pPr marL="300355">
              <a:lnSpc>
                <a:spcPct val="100000"/>
              </a:lnSpc>
            </a:pPr>
            <a:r>
              <a:rPr lang="en-US" sz="1100" dirty="0">
                <a:latin typeface="Arial MT"/>
                <a:cs typeface="Arial MT"/>
              </a:rPr>
              <a:t>May 06</a:t>
            </a:r>
            <a:r>
              <a:rPr sz="1100" spc="-10" dirty="0">
                <a:latin typeface="Arial MT"/>
                <a:cs typeface="Arial MT"/>
              </a:rPr>
              <a:t>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2026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329042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01748"/>
            <a:ext cx="392811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95680">
              <a:lnSpc>
                <a:spcPct val="125299"/>
              </a:lnSpc>
              <a:spcBef>
                <a:spcPts val="100"/>
              </a:spcBef>
            </a:pPr>
            <a:r>
              <a:rPr sz="1100" spc="-55" dirty="0">
                <a:latin typeface="Arial MT"/>
                <a:cs typeface="Arial MT"/>
              </a:rPr>
              <a:t>Pneumonia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major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health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issue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worldwide. </a:t>
            </a:r>
            <a:r>
              <a:rPr sz="1100" spc="-60" dirty="0">
                <a:latin typeface="Arial MT"/>
                <a:cs typeface="Arial MT"/>
              </a:rPr>
              <a:t>Chest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X-</a:t>
            </a:r>
            <a:r>
              <a:rPr sz="1100" spc="-55" dirty="0">
                <a:latin typeface="Arial MT"/>
                <a:cs typeface="Arial MT"/>
              </a:rPr>
              <a:t>rays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are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commonly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used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 </a:t>
            </a:r>
            <a:r>
              <a:rPr sz="1100" spc="-10" dirty="0">
                <a:latin typeface="Arial MT"/>
                <a:cs typeface="Arial MT"/>
              </a:rPr>
              <a:t>diagnosis. </a:t>
            </a:r>
            <a:r>
              <a:rPr sz="1100" spc="-30" dirty="0">
                <a:latin typeface="Arial MT"/>
                <a:cs typeface="Arial MT"/>
              </a:rPr>
              <a:t>Manual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diagnosis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can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be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slow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prone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errors.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30" dirty="0">
                <a:latin typeface="Arial MT"/>
                <a:cs typeface="Arial MT"/>
              </a:rPr>
              <a:t>Goal:</a:t>
            </a:r>
            <a:r>
              <a:rPr sz="1100" spc="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Build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AI-</a:t>
            </a:r>
            <a:r>
              <a:rPr sz="1100" spc="-50" dirty="0">
                <a:latin typeface="Arial MT"/>
                <a:cs typeface="Arial MT"/>
              </a:rPr>
              <a:t>based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model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classify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Normal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vs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Viral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Pneumonia.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53907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74910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959140"/>
            <a:ext cx="65201" cy="65201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Dataset</a:t>
            </a:r>
            <a:r>
              <a:rPr spc="-90" dirty="0"/>
              <a:t> </a:t>
            </a:r>
            <a:r>
              <a:rPr spc="-5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513461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429957"/>
            <a:ext cx="4001135" cy="7512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20014">
              <a:lnSpc>
                <a:spcPct val="102600"/>
              </a:lnSpc>
              <a:spcBef>
                <a:spcPts val="55"/>
              </a:spcBef>
            </a:pPr>
            <a:r>
              <a:rPr sz="1100" spc="-150" dirty="0">
                <a:latin typeface="Arial Black"/>
                <a:cs typeface="Arial Black"/>
              </a:rPr>
              <a:t>Classes:</a:t>
            </a:r>
            <a:r>
              <a:rPr sz="1100" spc="5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dataset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consists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two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categories:</a:t>
            </a:r>
            <a:r>
              <a:rPr sz="1100" spc="8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Normal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Viral Pneumonia.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100" spc="-110" dirty="0">
                <a:latin typeface="Arial Black"/>
                <a:cs typeface="Arial Black"/>
              </a:rPr>
              <a:t>Total</a:t>
            </a:r>
            <a:r>
              <a:rPr sz="1100" spc="15" dirty="0">
                <a:latin typeface="Arial Black"/>
                <a:cs typeface="Arial Black"/>
              </a:rPr>
              <a:t> </a:t>
            </a:r>
            <a:r>
              <a:rPr sz="1100" spc="-130" dirty="0">
                <a:latin typeface="Arial Black"/>
                <a:cs typeface="Arial Black"/>
              </a:rPr>
              <a:t>Images: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40" dirty="0">
                <a:latin typeface="Arial MT"/>
                <a:cs typeface="Arial MT"/>
              </a:rPr>
              <a:t>2,350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Total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(1,250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Normal,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1,100</a:t>
            </a:r>
            <a:r>
              <a:rPr sz="1100" dirty="0">
                <a:latin typeface="Arial MT"/>
                <a:cs typeface="Arial MT"/>
              </a:rPr>
              <a:t> Viral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Pneumonia).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1100" spc="-85" dirty="0">
                <a:latin typeface="Arial Black"/>
                <a:cs typeface="Arial Black"/>
              </a:rPr>
              <a:t>Data</a:t>
            </a:r>
            <a:r>
              <a:rPr sz="1100" spc="-10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Split:</a:t>
            </a:r>
            <a:r>
              <a:rPr sz="1100" spc="-5" dirty="0">
                <a:latin typeface="Arial Black"/>
                <a:cs typeface="Arial Black"/>
              </a:rPr>
              <a:t> </a:t>
            </a:r>
            <a:r>
              <a:rPr sz="1100" spc="-50" dirty="0">
                <a:latin typeface="Arial MT"/>
                <a:cs typeface="Arial MT"/>
              </a:rPr>
              <a:t>70%</a:t>
            </a:r>
            <a:r>
              <a:rPr sz="1100" spc="-10" dirty="0">
                <a:latin typeface="Arial MT"/>
                <a:cs typeface="Arial MT"/>
              </a:rPr>
              <a:t> Train, </a:t>
            </a:r>
            <a:r>
              <a:rPr sz="1100" spc="-50" dirty="0">
                <a:latin typeface="Arial MT"/>
                <a:cs typeface="Arial MT"/>
              </a:rPr>
              <a:t>20%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Validation,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10%</a:t>
            </a:r>
            <a:r>
              <a:rPr sz="1100" spc="-10" dirty="0">
                <a:latin typeface="Arial MT"/>
                <a:cs typeface="Arial MT"/>
              </a:rPr>
              <a:t> Test.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87900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072476"/>
            <a:ext cx="65201" cy="652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0158" y="2955777"/>
            <a:ext cx="11061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33B2"/>
                </a:solidFill>
                <a:latin typeface="Arial MT"/>
                <a:cs typeface="Arial MT"/>
              </a:rPr>
              <a:t>Figure: </a:t>
            </a:r>
            <a:r>
              <a:rPr sz="1000" spc="-25" dirty="0">
                <a:latin typeface="Arial MT"/>
                <a:cs typeface="Arial MT"/>
              </a:rPr>
              <a:t>Normal </a:t>
            </a:r>
            <a:r>
              <a:rPr sz="1000" spc="-75" dirty="0">
                <a:latin typeface="Arial MT"/>
                <a:cs typeface="Arial MT"/>
              </a:rPr>
              <a:t>Case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38856" y="2955777"/>
            <a:ext cx="1312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1000" spc="-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Viral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Pneumonia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3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570BDB-C580-35FB-1A15-5309EC1C9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160" y="1483270"/>
            <a:ext cx="1426531" cy="13990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DD22EB9-25C5-B6CC-1A16-48700DCC90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7394" y="1483271"/>
            <a:ext cx="1426464" cy="141620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Preprocessing</a:t>
            </a:r>
            <a:r>
              <a:rPr spc="-40" dirty="0"/>
              <a:t> </a:t>
            </a:r>
            <a:r>
              <a:rPr spc="-30" dirty="0"/>
              <a:t>and</a:t>
            </a:r>
            <a:r>
              <a:rPr spc="-40" dirty="0"/>
              <a:t> </a:t>
            </a:r>
            <a:r>
              <a:rPr spc="-30" dirty="0"/>
              <a:t>Augmentation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49D374B-042A-22A7-0736-DCE739CA5734}"/>
              </a:ext>
            </a:extLst>
          </p:cNvPr>
          <p:cNvGrpSpPr/>
          <p:nvPr/>
        </p:nvGrpSpPr>
        <p:grpSpPr>
          <a:xfrm>
            <a:off x="323850" y="891618"/>
            <a:ext cx="2952597" cy="655955"/>
            <a:chOff x="281165" y="1242514"/>
            <a:chExt cx="2952597" cy="6559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165" y="1369796"/>
              <a:ext cx="65201" cy="65201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402932" y="1242514"/>
              <a:ext cx="2830830" cy="655955"/>
            </a:xfrm>
            <a:prstGeom prst="rect">
              <a:avLst/>
            </a:prstGeom>
          </p:spPr>
          <p:txBody>
            <a:bodyPr vert="horz" wrap="square" lIns="0" tIns="55244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434"/>
                </a:spcBef>
              </a:pPr>
              <a:r>
                <a:rPr sz="1100" spc="-10" dirty="0">
                  <a:latin typeface="Arial MT"/>
                  <a:cs typeface="Arial MT"/>
                </a:rPr>
                <a:t>Normalization</a:t>
              </a:r>
              <a:endParaRPr sz="1100" dirty="0">
                <a:latin typeface="Arial MT"/>
                <a:cs typeface="Arial MT"/>
              </a:endParaRPr>
            </a:p>
            <a:p>
              <a:pPr marL="12700" marR="5080">
                <a:lnSpc>
                  <a:spcPct val="125299"/>
                </a:lnSpc>
              </a:pPr>
              <a:r>
                <a:rPr sz="1100" spc="-65" dirty="0">
                  <a:latin typeface="Arial MT"/>
                  <a:cs typeface="Arial MT"/>
                </a:rPr>
                <a:t>Random</a:t>
              </a:r>
              <a:r>
                <a:rPr sz="1100" spc="-10" dirty="0">
                  <a:latin typeface="Arial MT"/>
                  <a:cs typeface="Arial MT"/>
                </a:rPr>
                <a:t> flips,</a:t>
              </a:r>
              <a:r>
                <a:rPr sz="1100" spc="-5" dirty="0">
                  <a:latin typeface="Arial MT"/>
                  <a:cs typeface="Arial MT"/>
                </a:rPr>
                <a:t> </a:t>
              </a:r>
              <a:r>
                <a:rPr sz="1100" spc="-20" dirty="0">
                  <a:latin typeface="Arial MT"/>
                  <a:cs typeface="Arial MT"/>
                </a:rPr>
                <a:t>rotations,</a:t>
              </a:r>
              <a:r>
                <a:rPr sz="1100" spc="-5" dirty="0">
                  <a:latin typeface="Arial MT"/>
                  <a:cs typeface="Arial MT"/>
                </a:rPr>
                <a:t> </a:t>
              </a:r>
              <a:r>
                <a:rPr sz="1100" spc="-30" dirty="0">
                  <a:latin typeface="Arial MT"/>
                  <a:cs typeface="Arial MT"/>
                </a:rPr>
                <a:t>zoom,</a:t>
              </a:r>
              <a:r>
                <a:rPr sz="1100" spc="-5" dirty="0">
                  <a:latin typeface="Arial MT"/>
                  <a:cs typeface="Arial MT"/>
                </a:rPr>
                <a:t> </a:t>
              </a:r>
              <a:r>
                <a:rPr sz="1100" spc="-20" dirty="0">
                  <a:latin typeface="Arial MT"/>
                  <a:cs typeface="Arial MT"/>
                </a:rPr>
                <a:t>contrast</a:t>
              </a:r>
              <a:r>
                <a:rPr sz="1100" spc="-5" dirty="0">
                  <a:latin typeface="Arial MT"/>
                  <a:cs typeface="Arial MT"/>
                </a:rPr>
                <a:t> </a:t>
              </a:r>
              <a:r>
                <a:rPr sz="1100" spc="-70" dirty="0">
                  <a:latin typeface="Arial MT"/>
                  <a:cs typeface="Arial MT"/>
                </a:rPr>
                <a:t>changes </a:t>
              </a:r>
              <a:r>
                <a:rPr sz="1100" spc="-75" dirty="0">
                  <a:latin typeface="Arial MT"/>
                  <a:cs typeface="Arial MT"/>
                </a:rPr>
                <a:t>Gaussian</a:t>
              </a:r>
              <a:r>
                <a:rPr sz="1100" spc="25" dirty="0">
                  <a:latin typeface="Arial MT"/>
                  <a:cs typeface="Arial MT"/>
                </a:rPr>
                <a:t> </a:t>
              </a:r>
              <a:r>
                <a:rPr sz="1100" spc="-65" dirty="0">
                  <a:latin typeface="Arial MT"/>
                  <a:cs typeface="Arial MT"/>
                </a:rPr>
                <a:t>noise</a:t>
              </a:r>
              <a:r>
                <a:rPr sz="1100" spc="30" dirty="0">
                  <a:latin typeface="Arial MT"/>
                  <a:cs typeface="Arial MT"/>
                </a:rPr>
                <a:t> </a:t>
              </a:r>
              <a:r>
                <a:rPr sz="1100" spc="-65" dirty="0">
                  <a:latin typeface="Arial MT"/>
                  <a:cs typeface="Arial MT"/>
                </a:rPr>
                <a:t>added</a:t>
              </a:r>
              <a:r>
                <a:rPr sz="1100" spc="25" dirty="0">
                  <a:latin typeface="Arial MT"/>
                  <a:cs typeface="Arial MT"/>
                </a:rPr>
                <a:t> </a:t>
              </a:r>
              <a:r>
                <a:rPr sz="1100" dirty="0">
                  <a:latin typeface="Arial MT"/>
                  <a:cs typeface="Arial MT"/>
                </a:rPr>
                <a:t>to</a:t>
              </a:r>
              <a:r>
                <a:rPr sz="1100" spc="30" dirty="0">
                  <a:latin typeface="Arial MT"/>
                  <a:cs typeface="Arial MT"/>
                </a:rPr>
                <a:t> </a:t>
              </a:r>
              <a:r>
                <a:rPr sz="1100" spc="-70" dirty="0">
                  <a:latin typeface="Arial MT"/>
                  <a:cs typeface="Arial MT"/>
                </a:rPr>
                <a:t>reduce</a:t>
              </a:r>
              <a:r>
                <a:rPr sz="1100" spc="25" dirty="0">
                  <a:latin typeface="Arial MT"/>
                  <a:cs typeface="Arial MT"/>
                </a:rPr>
                <a:t> </a:t>
              </a:r>
              <a:r>
                <a:rPr sz="1100" spc="-10" dirty="0">
                  <a:latin typeface="Arial MT"/>
                  <a:cs typeface="Arial MT"/>
                </a:rPr>
                <a:t>overfitting</a:t>
              </a:r>
              <a:endParaRPr sz="1100" dirty="0">
                <a:latin typeface="Arial MT"/>
                <a:cs typeface="Arial MT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165" y="1579829"/>
              <a:ext cx="65201" cy="65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165" y="1789861"/>
              <a:ext cx="65201" cy="6520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4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42ED3-C212-1429-FC30-C285426F8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0095" y="1913178"/>
            <a:ext cx="3048211" cy="1448738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380E-CB80-970D-C955-340F29B00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E94A4E45-6E64-7C6A-02E2-46FE43EBF40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ACFF244-213C-043F-5691-680F336B8C1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C0D59D7-3CC9-0D10-484E-CBA635B60B2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5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F0E16-2512-7D42-DE89-1A793A8F9109}"/>
              </a:ext>
            </a:extLst>
          </p:cNvPr>
          <p:cNvSpPr txBox="1"/>
          <p:nvPr/>
        </p:nvSpPr>
        <p:spPr>
          <a:xfrm>
            <a:off x="1076322" y="1376432"/>
            <a:ext cx="2457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808482592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Baseline</a:t>
            </a:r>
            <a:r>
              <a:rPr spc="55" dirty="0"/>
              <a:t> </a:t>
            </a:r>
            <a:r>
              <a:rPr dirty="0"/>
              <a:t>CNN</a:t>
            </a:r>
            <a:r>
              <a:rPr spc="60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751649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24355"/>
            <a:ext cx="234315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3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Convolutional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blocks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BatchNorm </a:t>
            </a:r>
            <a:r>
              <a:rPr sz="1100" spc="-40" dirty="0">
                <a:latin typeface="Arial MT"/>
                <a:cs typeface="Arial MT"/>
              </a:rPr>
              <a:t>Global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Average</a:t>
            </a:r>
            <a:r>
              <a:rPr sz="1100" spc="-10" dirty="0">
                <a:latin typeface="Arial MT"/>
                <a:cs typeface="Arial MT"/>
              </a:rPr>
              <a:t> Pooling</a:t>
            </a:r>
            <a:endParaRPr sz="11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90" dirty="0">
                <a:latin typeface="Arial MT"/>
                <a:cs typeface="Arial MT"/>
              </a:rPr>
              <a:t>Dense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layers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Dropout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961682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1171714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1270" y="1540301"/>
            <a:ext cx="2165460" cy="9298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504314" y="2591592"/>
            <a:ext cx="15576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sz="1000" spc="-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Architecture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CNN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6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EﬀicientNetB0</a:t>
            </a:r>
            <a:r>
              <a:rPr spc="-30" dirty="0"/>
              <a:t> </a:t>
            </a:r>
            <a:r>
              <a:rPr spc="-40" dirty="0"/>
              <a:t>Transfer</a:t>
            </a:r>
            <a:r>
              <a:rPr spc="-30" dirty="0"/>
              <a:t> </a:t>
            </a:r>
            <a:r>
              <a:rPr spc="-3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495642"/>
            <a:ext cx="65201" cy="652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7245" y="435246"/>
            <a:ext cx="246951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Arial MT"/>
                <a:cs typeface="Arial MT"/>
              </a:rPr>
              <a:t>Pretrained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ImageNet</a:t>
            </a:r>
            <a:endParaRPr sz="1100" dirty="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</a:pPr>
            <a:r>
              <a:rPr sz="1100" spc="-65" dirty="0">
                <a:latin typeface="Arial MT"/>
                <a:cs typeface="Arial MT"/>
              </a:rPr>
              <a:t>Frozen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95" dirty="0">
                <a:latin typeface="Arial MT"/>
                <a:cs typeface="Arial MT"/>
              </a:rPr>
              <a:t>base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layers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210" dirty="0">
                <a:latin typeface="Arial MT"/>
                <a:cs typeface="Arial MT"/>
              </a:rPr>
              <a:t>+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custom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classifier </a:t>
            </a:r>
            <a:r>
              <a:rPr sz="1100" spc="-40" dirty="0">
                <a:latin typeface="Arial MT"/>
                <a:cs typeface="Arial MT"/>
              </a:rPr>
              <a:t>Global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Average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Pooling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210" dirty="0">
                <a:latin typeface="Arial MT"/>
                <a:cs typeface="Arial MT"/>
              </a:rPr>
              <a:t>+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90" dirty="0">
                <a:latin typeface="Arial MT"/>
                <a:cs typeface="Arial MT"/>
              </a:rPr>
              <a:t>Dense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layer </a:t>
            </a:r>
            <a:r>
              <a:rPr sz="1100" spc="-55" dirty="0">
                <a:latin typeface="Arial MT"/>
                <a:cs typeface="Arial MT"/>
              </a:rPr>
              <a:t>Tuned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hyperparameters</a:t>
            </a:r>
            <a:r>
              <a:rPr sz="1100" dirty="0">
                <a:latin typeface="Arial MT"/>
                <a:cs typeface="Arial MT"/>
              </a:rPr>
              <a:t> (LR, </a:t>
            </a:r>
            <a:r>
              <a:rPr sz="1100" spc="-10" dirty="0">
                <a:latin typeface="Arial MT"/>
                <a:cs typeface="Arial MT"/>
              </a:rPr>
              <a:t>dropout,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L2)</a:t>
            </a:r>
            <a:endParaRPr sz="11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667715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839787"/>
            <a:ext cx="65201" cy="652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1011859"/>
            <a:ext cx="65201" cy="6520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0139" y="1120775"/>
            <a:ext cx="1429211" cy="208496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86646" y="3117518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Arial MT"/>
                <a:cs typeface="Arial MT"/>
                <a:hlinkClick r:id="rId7" action="ppaction://hlinksldjump"/>
              </a:rPr>
              <a:t>;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7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A0C7-AE43-8833-1B25-0DF001C3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503B32E4-C782-E1A7-ABA2-E13F4A79619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519980" y="3371215"/>
            <a:ext cx="41909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3DCA9F3-2C4B-4118-24D2-591C778AAE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D9EB4F3-EC0A-211D-A28D-CE0A712E9E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8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9ADC4F3-AC0F-2446-D730-9D7A96A39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00" y="60004"/>
            <a:ext cx="2469515" cy="215444"/>
          </a:xfrm>
        </p:spPr>
        <p:txBody>
          <a:bodyPr/>
          <a:lstStyle/>
          <a:p>
            <a:r>
              <a:rPr lang="en-US" dirty="0"/>
              <a:t>DenseNet-121</a:t>
            </a: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D816F4FE-9A36-F577-8EC0-F0C5EC74A5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3" y="593584"/>
            <a:ext cx="65201" cy="65201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C5C81034-4CD1-1A52-E318-272075F6F4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3" y="820357"/>
            <a:ext cx="65201" cy="65201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6E29FBFE-E722-CB35-5D6E-33145AE7AB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3" y="1425575"/>
            <a:ext cx="65201" cy="65201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F9AF1AE4-5E35-BF92-395D-54846E4F458C}"/>
              </a:ext>
            </a:extLst>
          </p:cNvPr>
          <p:cNvSpPr txBox="1"/>
          <p:nvPr/>
        </p:nvSpPr>
        <p:spPr>
          <a:xfrm>
            <a:off x="552450" y="495642"/>
            <a:ext cx="234315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335"/>
              </a:spcBef>
            </a:pPr>
            <a:r>
              <a:rPr lang="en-US" sz="1300" spc="-35" dirty="0">
                <a:latin typeface="Arial MT"/>
                <a:cs typeface="Arial MT"/>
              </a:rPr>
              <a:t>Pretrained </a:t>
            </a:r>
            <a:r>
              <a:rPr lang="en-US" sz="1300" dirty="0">
                <a:latin typeface="Arial MT"/>
                <a:cs typeface="Arial MT"/>
              </a:rPr>
              <a:t>on</a:t>
            </a:r>
            <a:r>
              <a:rPr lang="en-US" sz="1300" spc="-35" dirty="0">
                <a:latin typeface="Arial MT"/>
                <a:cs typeface="Arial MT"/>
              </a:rPr>
              <a:t> </a:t>
            </a:r>
            <a:r>
              <a:rPr lang="en-US" sz="1300" spc="-10" dirty="0">
                <a:latin typeface="Arial MT"/>
                <a:cs typeface="Arial MT"/>
              </a:rPr>
              <a:t>ImageNet</a:t>
            </a:r>
            <a:endParaRPr lang="en-US" sz="1300" dirty="0">
              <a:latin typeface="Arial MT"/>
              <a:cs typeface="Arial MT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A3210EA-72F3-BF6A-8C5D-C0921F1B2A21}"/>
              </a:ext>
            </a:extLst>
          </p:cNvPr>
          <p:cNvSpPr txBox="1"/>
          <p:nvPr/>
        </p:nvSpPr>
        <p:spPr>
          <a:xfrm>
            <a:off x="565494" y="706231"/>
            <a:ext cx="2343150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335"/>
              </a:spcBef>
            </a:pPr>
            <a:r>
              <a:rPr lang="en-US" sz="1100" spc="-35" dirty="0">
                <a:latin typeface="Arial MT"/>
                <a:cs typeface="Arial MT"/>
              </a:rPr>
              <a:t>Trained in two phases: </a:t>
            </a:r>
          </a:p>
          <a:p>
            <a:pPr marL="298450" indent="-285750"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lang="en-US" sz="1100" spc="-35" dirty="0">
                <a:latin typeface="Arial MT"/>
                <a:cs typeface="Arial MT"/>
              </a:rPr>
              <a:t>Frozen Base layers</a:t>
            </a:r>
          </a:p>
          <a:p>
            <a:pPr marL="298450" indent="-285750"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lang="en-US" sz="1100" spc="-35" dirty="0">
                <a:latin typeface="Arial MT"/>
                <a:cs typeface="Arial MT"/>
              </a:rPr>
              <a:t>Partially Unfreezing Base layers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DC9E5768-66F2-2DF7-6987-C259A32DE044}"/>
                  </a:ext>
                </a:extLst>
              </p:cNvPr>
              <p:cNvSpPr txBox="1"/>
              <p:nvPr/>
            </p:nvSpPr>
            <p:spPr>
              <a:xfrm>
                <a:off x="552450" y="1351735"/>
                <a:ext cx="2819400" cy="68993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spcBef>
                    <a:spcPts val="335"/>
                  </a:spcBef>
                </a:pPr>
                <a:r>
                  <a:rPr lang="en-US" sz="1300" spc="-35" dirty="0">
                    <a:latin typeface="Arial" panose="020B0604020202020204" pitchFamily="34" charset="0"/>
                    <a:cs typeface="Arial" panose="020B0604020202020204" pitchFamily="34" charset="0"/>
                  </a:rPr>
                  <a:t>Mathematical form, </a:t>
                </a:r>
              </a:p>
              <a:p>
                <a:pPr marL="12700">
                  <a:spcBef>
                    <a:spcPts val="335"/>
                  </a:spcBef>
                </a:pPr>
                <a:r>
                  <a:rPr lang="en-US" sz="1300" spc="-35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300" b="0" i="1" spc="-35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1300" b="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300" b="0" i="1" spc="-35" smtClean="0">
                        <a:latin typeface="Cambria Math" panose="02040503050406030204" pitchFamily="18" charset="0"/>
                      </a:rPr>
                      <m:t> ([</m:t>
                    </m:r>
                    <m:sSub>
                      <m:sSubPr>
                        <m:ctrlPr>
                          <a:rPr lang="en-US" sz="1300" b="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300" b="0" i="1" spc="-35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300" b="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300" b="0" i="1" spc="-35" smtClean="0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sz="1300" b="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1300" b="0" i="1" spc="-35" smtClean="0">
                        <a:latin typeface="Cambria Math" panose="02040503050406030204" pitchFamily="18" charset="0"/>
                      </a:rPr>
                      <m:t>])</m:t>
                    </m:r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12700">
                  <a:spcBef>
                    <a:spcPts val="335"/>
                  </a:spcBef>
                </a:pPr>
                <a:r>
                  <a:rPr lang="en-US" sz="13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pc="-35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pc="-35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300" b="0" i="0" spc="-35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300" b="0" i="0" spc="-35" smtClean="0">
                        <a:latin typeface="Cambria Math" panose="02040503050406030204" pitchFamily="18" charset="0"/>
                      </a:rPr>
                      <m:t>transformation</m:t>
                    </m:r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300" b="0" i="0" spc="-35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300" b="0" i="0" spc="-35" smtClean="0">
                        <a:latin typeface="Cambria Math" panose="02040503050406030204" pitchFamily="18" charset="0"/>
                      </a:rPr>
                      <m:t>nth</m:t>
                    </m:r>
                    <m:r>
                      <a:rPr lang="en-US" sz="1300" b="0" i="0" spc="-35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300" b="0" i="0" spc="-35" smtClean="0">
                        <a:latin typeface="Cambria Math" panose="02040503050406030204" pitchFamily="18" charset="0"/>
                      </a:rPr>
                      <m:t>layer</m:t>
                    </m:r>
                  </m:oMath>
                </a14:m>
                <a:endParaRPr lang="en-US" sz="1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object 4">
                <a:extLst>
                  <a:ext uri="{FF2B5EF4-FFF2-40B4-BE49-F238E27FC236}">
                    <a16:creationId xmlns:a16="http://schemas.microsoft.com/office/drawing/2014/main" id="{DC9E5768-66F2-2DF7-6987-C259A32DE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1351735"/>
                <a:ext cx="2819400" cy="689932"/>
              </a:xfrm>
              <a:prstGeom prst="rect">
                <a:avLst/>
              </a:prstGeom>
              <a:blipFill>
                <a:blip r:embed="rId3"/>
                <a:stretch>
                  <a:fillRect l="-3247" t="-6195" b="-13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DenseNet Convolutional Neural Networks Application for Predicting COVID-19  Using CT Image | SN Computer Science | Springer Nature Link">
            <a:extLst>
              <a:ext uri="{FF2B5EF4-FFF2-40B4-BE49-F238E27FC236}">
                <a16:creationId xmlns:a16="http://schemas.microsoft.com/office/drawing/2014/main" id="{02162A25-73CA-DFD4-D307-81D4596D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185" y="2127627"/>
            <a:ext cx="1853915" cy="133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40906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CF94-20A8-1C63-3E43-5516531F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3605284F-CB40-7691-6C5F-0ECE71E5359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01851CB-F4F1-F7D6-C4F9-2E4F591E151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354481B-AE30-E177-FFFA-BD2848D217C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9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B18E471-BC17-5A05-50E5-4B1D9A51F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00" y="60004"/>
            <a:ext cx="2469515" cy="215444"/>
          </a:xfrm>
        </p:spPr>
        <p:txBody>
          <a:bodyPr/>
          <a:lstStyle/>
          <a:p>
            <a:r>
              <a:rPr lang="en-US" dirty="0"/>
              <a:t>ResNet-50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BB990A-6537-0060-038B-747F84A98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1" y="1706274"/>
            <a:ext cx="4595179" cy="1760586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C988C85E-4489-8715-22CA-8443A365B6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850" y="587375"/>
            <a:ext cx="65201" cy="652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8BC2C8-3F79-A7CE-E771-98FDAC3F36D7}"/>
              </a:ext>
            </a:extLst>
          </p:cNvPr>
          <p:cNvSpPr txBox="1"/>
          <p:nvPr/>
        </p:nvSpPr>
        <p:spPr>
          <a:xfrm>
            <a:off x="476250" y="473781"/>
            <a:ext cx="231077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35"/>
              </a:spcBef>
            </a:pPr>
            <a:r>
              <a:rPr lang="en-US" sz="1300" spc="-35" dirty="0">
                <a:latin typeface="Arial MT"/>
                <a:cs typeface="Arial MT"/>
              </a:rPr>
              <a:t>Pretrained </a:t>
            </a:r>
            <a:r>
              <a:rPr lang="en-US" sz="1300" dirty="0">
                <a:latin typeface="Arial MT"/>
                <a:cs typeface="Arial MT"/>
              </a:rPr>
              <a:t>on</a:t>
            </a:r>
            <a:r>
              <a:rPr lang="en-US" sz="1300" spc="-35" dirty="0">
                <a:latin typeface="Arial MT"/>
                <a:cs typeface="Arial MT"/>
              </a:rPr>
              <a:t> </a:t>
            </a:r>
            <a:r>
              <a:rPr lang="en-US" sz="1300" spc="-10" dirty="0">
                <a:latin typeface="Arial MT"/>
                <a:cs typeface="Arial MT"/>
              </a:rPr>
              <a:t>ImageNet</a:t>
            </a:r>
            <a:endParaRPr lang="en-US" sz="1300" dirty="0">
              <a:latin typeface="Arial MT"/>
              <a:cs typeface="Arial MT"/>
            </a:endParaRPr>
          </a:p>
        </p:txBody>
      </p:sp>
      <p:pic>
        <p:nvPicPr>
          <p:cNvPr id="16" name="object 3">
            <a:extLst>
              <a:ext uri="{FF2B5EF4-FFF2-40B4-BE49-F238E27FC236}">
                <a16:creationId xmlns:a16="http://schemas.microsoft.com/office/drawing/2014/main" id="{9EC9B4C8-EDA4-47D3-33B2-ECBD2A5A1A3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203" y="815975"/>
            <a:ext cx="65201" cy="6520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15F173B-029F-76B2-6C9C-F0F54360038F}"/>
              </a:ext>
            </a:extLst>
          </p:cNvPr>
          <p:cNvSpPr txBox="1"/>
          <p:nvPr/>
        </p:nvSpPr>
        <p:spPr>
          <a:xfrm>
            <a:off x="460390" y="698473"/>
            <a:ext cx="30148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35"/>
              </a:spcBef>
            </a:pPr>
            <a:r>
              <a:rPr lang="en-US" sz="1300" spc="-35" dirty="0">
                <a:latin typeface="Arial MT"/>
                <a:cs typeface="Arial MT"/>
              </a:rPr>
              <a:t>Trained on the base of residual learning</a:t>
            </a:r>
            <a:endParaRPr lang="en-US" sz="1300" dirty="0">
              <a:latin typeface="Arial MT"/>
              <a:cs typeface="Arial MT"/>
            </a:endParaRPr>
          </a:p>
        </p:txBody>
      </p:sp>
      <p:pic>
        <p:nvPicPr>
          <p:cNvPr id="18" name="object 3">
            <a:extLst>
              <a:ext uri="{FF2B5EF4-FFF2-40B4-BE49-F238E27FC236}">
                <a16:creationId xmlns:a16="http://schemas.microsoft.com/office/drawing/2014/main" id="{3D6A7852-C0F2-5A50-C0B7-76911ADBD1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024" y="1049638"/>
            <a:ext cx="65201" cy="6520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F762821-ECA3-7BAB-D6DA-1F9BDD39F738}"/>
              </a:ext>
            </a:extLst>
          </p:cNvPr>
          <p:cNvSpPr txBox="1"/>
          <p:nvPr/>
        </p:nvSpPr>
        <p:spPr>
          <a:xfrm>
            <a:off x="476250" y="936044"/>
            <a:ext cx="3124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335"/>
              </a:spcBef>
            </a:pPr>
            <a:r>
              <a:rPr lang="en-US" sz="1300" dirty="0">
                <a:latin typeface="Arial MT"/>
                <a:cs typeface="Arial MT"/>
              </a:rPr>
              <a:t>Prevent the vanishing of </a:t>
            </a:r>
            <a:r>
              <a:rPr lang="en-US" sz="1300" b="1" dirty="0">
                <a:latin typeface="Arial MT"/>
                <a:cs typeface="Arial MT"/>
              </a:rPr>
              <a:t>gradient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AEFC28-ADC9-3153-904E-62D2179D6575}"/>
                  </a:ext>
                </a:extLst>
              </p:cNvPr>
              <p:cNvSpPr txBox="1"/>
              <p:nvPr/>
            </p:nvSpPr>
            <p:spPr>
              <a:xfrm>
                <a:off x="476250" y="1313478"/>
                <a:ext cx="3124200" cy="2923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">
                  <a:spcBef>
                    <a:spcPts val="335"/>
                  </a:spcBef>
                </a:pPr>
                <a:r>
                  <a:rPr lang="en-US" sz="1300" dirty="0">
                    <a:latin typeface="Arial MT"/>
                    <a:cs typeface="Arial MT"/>
                  </a:rPr>
                  <a:t>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300" dirty="0">
                    <a:latin typeface="Arial MT"/>
                    <a:cs typeface="Arial MT"/>
                  </a:rPr>
                  <a:t>) = Output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1300" dirty="0">
                    <a:latin typeface="Arial MT"/>
                    <a:cs typeface="Arial MT"/>
                  </a:rPr>
                  <a:t>) + Input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3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300" dirty="0">
                    <a:latin typeface="Arial MT"/>
                    <a:cs typeface="Arial MT"/>
                  </a:rPr>
                  <a:t>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4AEFC28-ADC9-3153-904E-62D2179D6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1313478"/>
                <a:ext cx="3124200" cy="292388"/>
              </a:xfrm>
              <a:prstGeom prst="rect">
                <a:avLst/>
              </a:prstGeom>
              <a:blipFill>
                <a:blip r:embed="rId4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53DC2F02-8A58-6B37-1EC2-C3DFC8547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466" y="1257436"/>
            <a:ext cx="1052627" cy="41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340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Hyperparameter</a:t>
            </a:r>
            <a:r>
              <a:rPr spc="20" dirty="0"/>
              <a:t> </a:t>
            </a:r>
            <a:r>
              <a:rPr spc="-20" dirty="0"/>
              <a:t>Tuning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23949B0-5DAA-B7CC-C470-EA6122B8A82A}"/>
              </a:ext>
            </a:extLst>
          </p:cNvPr>
          <p:cNvGrpSpPr/>
          <p:nvPr/>
        </p:nvGrpSpPr>
        <p:grpSpPr>
          <a:xfrm>
            <a:off x="281165" y="1285707"/>
            <a:ext cx="3640302" cy="855362"/>
            <a:chOff x="281165" y="1285707"/>
            <a:chExt cx="3640302" cy="85536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165" y="1413001"/>
              <a:ext cx="65201" cy="65201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402932" y="1285707"/>
              <a:ext cx="3518535" cy="85536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25299"/>
                </a:lnSpc>
                <a:spcBef>
                  <a:spcPts val="100"/>
                </a:spcBef>
              </a:pPr>
              <a:r>
                <a:rPr sz="1100" spc="-50" dirty="0">
                  <a:latin typeface="Arial MT"/>
                  <a:cs typeface="Arial MT"/>
                </a:rPr>
                <a:t>Performed</a:t>
              </a:r>
              <a:r>
                <a:rPr sz="1100" spc="15" dirty="0">
                  <a:latin typeface="Arial MT"/>
                  <a:cs typeface="Arial MT"/>
                </a:rPr>
                <a:t> </a:t>
              </a:r>
              <a:r>
                <a:rPr sz="1100" spc="-50" dirty="0">
                  <a:latin typeface="Arial MT"/>
                  <a:cs typeface="Arial MT"/>
                </a:rPr>
                <a:t>using</a:t>
              </a:r>
              <a:r>
                <a:rPr sz="1100" spc="20" dirty="0">
                  <a:latin typeface="Arial MT"/>
                  <a:cs typeface="Arial MT"/>
                </a:rPr>
                <a:t> </a:t>
              </a:r>
              <a:r>
                <a:rPr sz="1100" spc="-60" dirty="0">
                  <a:latin typeface="Arial MT"/>
                  <a:cs typeface="Arial MT"/>
                </a:rPr>
                <a:t>Keras</a:t>
              </a:r>
              <a:r>
                <a:rPr sz="1100" spc="20" dirty="0">
                  <a:latin typeface="Arial MT"/>
                  <a:cs typeface="Arial MT"/>
                </a:rPr>
                <a:t> </a:t>
              </a:r>
              <a:r>
                <a:rPr sz="1100" spc="-30" dirty="0">
                  <a:latin typeface="Arial MT"/>
                  <a:cs typeface="Arial MT"/>
                </a:rPr>
                <a:t>Tuner</a:t>
              </a:r>
              <a:r>
                <a:rPr sz="1100" spc="20" dirty="0">
                  <a:latin typeface="Arial MT"/>
                  <a:cs typeface="Arial MT"/>
                </a:rPr>
                <a:t> </a:t>
              </a:r>
              <a:r>
                <a:rPr sz="1100" spc="-65" dirty="0">
                  <a:latin typeface="Arial MT"/>
                  <a:cs typeface="Arial MT"/>
                </a:rPr>
                <a:t>(RandomSearch</a:t>
              </a:r>
              <a:r>
                <a:rPr sz="1100" spc="20" dirty="0">
                  <a:latin typeface="Arial MT"/>
                  <a:cs typeface="Arial MT"/>
                </a:rPr>
                <a:t> </a:t>
              </a:r>
              <a:r>
                <a:rPr sz="1100" spc="240" dirty="0">
                  <a:latin typeface="Arial MT"/>
                  <a:cs typeface="Arial MT"/>
                </a:rPr>
                <a:t>/</a:t>
              </a:r>
              <a:r>
                <a:rPr sz="1100" spc="15" dirty="0">
                  <a:latin typeface="Arial MT"/>
                  <a:cs typeface="Arial MT"/>
                </a:rPr>
                <a:t> </a:t>
              </a:r>
              <a:r>
                <a:rPr sz="1100" spc="-35" dirty="0">
                  <a:latin typeface="Arial MT"/>
                  <a:cs typeface="Arial MT"/>
                </a:rPr>
                <a:t>Hyperband)</a:t>
              </a:r>
              <a:br>
                <a:rPr lang="en-US" sz="1100" spc="-35" dirty="0">
                  <a:latin typeface="Arial MT"/>
                  <a:cs typeface="Arial MT"/>
                </a:rPr>
              </a:br>
              <a:r>
                <a:rPr lang="en-US" sz="1100" spc="-35" dirty="0">
                  <a:latin typeface="Arial MT"/>
                  <a:cs typeface="Arial MT"/>
                </a:rPr>
                <a:t>and by </a:t>
              </a:r>
              <a:r>
                <a:rPr lang="en-US" sz="1100" b="1" dirty="0"/>
                <a:t>Manual hyperparameter selection</a:t>
              </a:r>
              <a:br>
                <a:rPr lang="en-US" sz="1100" spc="-35" dirty="0">
                  <a:latin typeface="Arial MT"/>
                  <a:cs typeface="Arial MT"/>
                </a:rPr>
              </a:br>
              <a:r>
                <a:rPr sz="1100" spc="-55" dirty="0">
                  <a:latin typeface="Arial MT"/>
                  <a:cs typeface="Arial MT"/>
                </a:rPr>
                <a:t>Tuned</a:t>
              </a:r>
              <a:r>
                <a:rPr sz="1100" spc="-20" dirty="0">
                  <a:latin typeface="Arial MT"/>
                  <a:cs typeface="Arial MT"/>
                </a:rPr>
                <a:t> </a:t>
              </a:r>
              <a:r>
                <a:rPr sz="1100" dirty="0">
                  <a:latin typeface="Arial MT"/>
                  <a:cs typeface="Arial MT"/>
                </a:rPr>
                <a:t>filters,</a:t>
              </a:r>
              <a:r>
                <a:rPr sz="1100" spc="-35" dirty="0">
                  <a:latin typeface="Arial MT"/>
                  <a:cs typeface="Arial MT"/>
                </a:rPr>
                <a:t> </a:t>
              </a:r>
              <a:r>
                <a:rPr sz="1100" spc="-10" dirty="0">
                  <a:latin typeface="Arial MT"/>
                  <a:cs typeface="Arial MT"/>
                </a:rPr>
                <a:t>dropout, </a:t>
              </a:r>
              <a:r>
                <a:rPr sz="1100" spc="-100" dirty="0">
                  <a:latin typeface="Arial MT"/>
                  <a:cs typeface="Arial MT"/>
                </a:rPr>
                <a:t>dense</a:t>
              </a:r>
              <a:r>
                <a:rPr sz="1100" spc="25" dirty="0">
                  <a:latin typeface="Arial MT"/>
                  <a:cs typeface="Arial MT"/>
                </a:rPr>
                <a:t> </a:t>
              </a:r>
              <a:r>
                <a:rPr sz="1100" spc="-10" dirty="0">
                  <a:latin typeface="Arial MT"/>
                  <a:cs typeface="Arial MT"/>
                </a:rPr>
                <a:t>units,</a:t>
              </a:r>
              <a:r>
                <a:rPr sz="1100" spc="-5" dirty="0">
                  <a:latin typeface="Arial MT"/>
                  <a:cs typeface="Arial MT"/>
                </a:rPr>
                <a:t> </a:t>
              </a:r>
              <a:r>
                <a:rPr sz="1100" spc="-40" dirty="0">
                  <a:latin typeface="Arial MT"/>
                  <a:cs typeface="Arial MT"/>
                </a:rPr>
                <a:t>learning</a:t>
              </a:r>
              <a:r>
                <a:rPr sz="1100" spc="-10" dirty="0">
                  <a:latin typeface="Arial MT"/>
                  <a:cs typeface="Arial MT"/>
                </a:rPr>
                <a:t> </a:t>
              </a:r>
              <a:r>
                <a:rPr sz="1100" spc="-20" dirty="0">
                  <a:latin typeface="Arial MT"/>
                  <a:cs typeface="Arial MT"/>
                </a:rPr>
                <a:t>rate</a:t>
              </a:r>
              <a:r>
                <a:rPr lang="en-US" sz="1100" spc="-20" dirty="0">
                  <a:latin typeface="Arial MT"/>
                  <a:cs typeface="Arial MT"/>
                </a:rPr>
                <a:t>, </a:t>
              </a:r>
              <a:r>
                <a:rPr lang="en-US" sz="1000" spc="-20" dirty="0">
                  <a:latin typeface="Arial MT"/>
                  <a:cs typeface="Arial MT"/>
                </a:rPr>
                <a:t>Image size</a:t>
              </a:r>
              <a:endParaRPr sz="1000" dirty="0">
                <a:latin typeface="Arial MT"/>
                <a:cs typeface="Arial MT"/>
              </a:endParaRPr>
            </a:p>
            <a:p>
              <a:pPr marL="12700">
                <a:lnSpc>
                  <a:spcPct val="100000"/>
                </a:lnSpc>
                <a:spcBef>
                  <a:spcPts val="335"/>
                </a:spcBef>
              </a:pPr>
              <a:r>
                <a:rPr sz="1100" spc="-90" dirty="0">
                  <a:latin typeface="Arial MT"/>
                  <a:cs typeface="Arial MT"/>
                </a:rPr>
                <a:t>Class</a:t>
              </a:r>
              <a:r>
                <a:rPr sz="1100" spc="35" dirty="0">
                  <a:latin typeface="Arial MT"/>
                  <a:cs typeface="Arial MT"/>
                </a:rPr>
                <a:t> </a:t>
              </a:r>
              <a:r>
                <a:rPr sz="1100" spc="-45" dirty="0">
                  <a:latin typeface="Arial MT"/>
                  <a:cs typeface="Arial MT"/>
                </a:rPr>
                <a:t>weights</a:t>
              </a:r>
              <a:r>
                <a:rPr sz="1100" spc="35" dirty="0">
                  <a:latin typeface="Arial MT"/>
                  <a:cs typeface="Arial MT"/>
                </a:rPr>
                <a:t> </a:t>
              </a:r>
              <a:r>
                <a:rPr sz="1100" spc="-80" dirty="0">
                  <a:latin typeface="Arial MT"/>
                  <a:cs typeface="Arial MT"/>
                </a:rPr>
                <a:t>used</a:t>
              </a:r>
              <a:r>
                <a:rPr sz="1100" spc="35" dirty="0">
                  <a:latin typeface="Arial MT"/>
                  <a:cs typeface="Arial MT"/>
                </a:rPr>
                <a:t> </a:t>
              </a:r>
              <a:r>
                <a:rPr sz="1100" dirty="0">
                  <a:latin typeface="Arial MT"/>
                  <a:cs typeface="Arial MT"/>
                </a:rPr>
                <a:t>to</a:t>
              </a:r>
              <a:r>
                <a:rPr sz="1100" spc="35" dirty="0">
                  <a:latin typeface="Arial MT"/>
                  <a:cs typeface="Arial MT"/>
                </a:rPr>
                <a:t> </a:t>
              </a:r>
              <a:r>
                <a:rPr sz="1100" spc="-85" dirty="0">
                  <a:latin typeface="Arial MT"/>
                  <a:cs typeface="Arial MT"/>
                </a:rPr>
                <a:t>address</a:t>
              </a:r>
              <a:r>
                <a:rPr sz="1100" spc="35" dirty="0">
                  <a:latin typeface="Arial MT"/>
                  <a:cs typeface="Arial MT"/>
                </a:rPr>
                <a:t> </a:t>
              </a:r>
              <a:r>
                <a:rPr sz="1100" spc="-10" dirty="0">
                  <a:latin typeface="Arial MT"/>
                  <a:cs typeface="Arial MT"/>
                </a:rPr>
                <a:t>imbalance</a:t>
              </a:r>
              <a:endParaRPr sz="1100" dirty="0">
                <a:latin typeface="Arial MT"/>
                <a:cs typeface="Arial MT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165" y="1806575"/>
              <a:ext cx="65201" cy="65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165" y="2035175"/>
              <a:ext cx="65201" cy="6520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10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7897-6EB0-D0C5-3110-806325A2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48DFD1CB-32CC-F2B8-0C50-AC6A1408AA7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DD47EB0-5DA1-D585-DD5E-3D73C9057A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2AF949C-9239-1CDC-A6F9-395BBEDBE13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11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5219911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0A6D-B61C-5FC4-90F9-ECE1C73A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8B938EC-EC89-978F-0ED3-CDB7E045A2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1050" y="929194"/>
            <a:ext cx="2791460" cy="16023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spcBef>
                <a:spcPts val="135"/>
              </a:spcBef>
            </a:pPr>
            <a:r>
              <a:rPr lang="en-US" sz="2800" b="1" dirty="0">
                <a:solidFill>
                  <a:schemeClr val="tx1"/>
                </a:solidFill>
              </a:rPr>
              <a:t>RESULTS</a:t>
            </a:r>
            <a:br>
              <a:rPr lang="en-US" sz="1500" b="1" dirty="0">
                <a:solidFill>
                  <a:schemeClr val="tx1"/>
                </a:solidFill>
              </a:rPr>
            </a:br>
            <a:br>
              <a:rPr lang="en-US" sz="2500" b="1" spc="-10" dirty="0">
                <a:solidFill>
                  <a:schemeClr val="tx1"/>
                </a:solidFill>
              </a:rPr>
            </a:br>
            <a:r>
              <a:rPr lang="en-US" sz="2500" b="1" spc="-10" dirty="0">
                <a:solidFill>
                  <a:schemeClr val="tx1"/>
                </a:solidFill>
              </a:rPr>
              <a:t>(5-FOLD CROSS VALIDATION) </a:t>
            </a:r>
            <a:endParaRPr sz="2500" b="1" spc="-10" dirty="0">
              <a:solidFill>
                <a:schemeClr val="tx1"/>
              </a:solidFill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43D80DF-3A18-383B-9DF3-B23C27148F6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A12593F-4FDD-0ADC-262A-445C1682A66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25ADB75-FEFF-B3A0-5CC1-96F75F8C5C6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12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953424258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E884-3EA2-7E59-33EC-CC3B45D7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8D1DD4-FB4B-8F8A-3983-CB7B7BBB6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>
                <a:solidFill>
                  <a:srgbClr val="FFFFFF"/>
                </a:solidFill>
              </a:rPr>
              <a:t>CNN 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5C87D59-842A-35CC-4D28-0B7D5D349D1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EC7FAB2-F548-B2FD-E83B-B5296A8B452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67508F4-89F0-FC27-FF93-F3C7B187E5F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13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29260-D334-5933-0D1C-1F56344F2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369"/>
            <a:ext cx="2283974" cy="2138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D4B0F0-D916-12C3-F02E-AD72A705A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710" y="1542730"/>
            <a:ext cx="2006532" cy="19250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8C3330-1145-7433-6111-DC24FBDE8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569" y="384286"/>
            <a:ext cx="2006531" cy="106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367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F8A6-1807-23F2-C33B-D3D73523E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1C3B301-5D2E-B149-570D-BC1D803DB7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>
                <a:solidFill>
                  <a:srgbClr val="FFFFFF"/>
                </a:solidFill>
              </a:rPr>
              <a:t>EﬀicientNetB0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5FB27B1-E706-63C6-0C91-20FFBD4D98C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06D6972-AC67-866C-9732-2C02D9D0B07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FF8A137-0C1B-7981-2B14-A6A6BF1209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14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BA51E6-B14C-747E-915F-0943D59C6E90}"/>
              </a:ext>
            </a:extLst>
          </p:cNvPr>
          <p:cNvGrpSpPr/>
          <p:nvPr/>
        </p:nvGrpSpPr>
        <p:grpSpPr>
          <a:xfrm>
            <a:off x="56415" y="434975"/>
            <a:ext cx="4497270" cy="2920718"/>
            <a:chOff x="56415" y="434975"/>
            <a:chExt cx="4497270" cy="292071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A5D7BC-13FB-508F-E5E7-6BA288B5A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68" y="434975"/>
              <a:ext cx="4491517" cy="152198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7A69D7-D535-4F24-73F3-3F29F6B3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15" y="1901367"/>
              <a:ext cx="3495486" cy="14543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5930637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66DC-5B59-0775-E9CD-73CF5467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940979-DBDD-F74D-A4E3-6685C1AE0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>
                <a:solidFill>
                  <a:srgbClr val="FFFFFF"/>
                </a:solidFill>
              </a:rPr>
              <a:t>EﬀicientNetB0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9389D4-3418-E196-115E-F474638C597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4E412D3-2178-7E84-7B4C-37436D810A9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467FAE8-C40B-41D9-A917-4D8A19F5D85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15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91D83-82E6-6CD3-0513-5756C2376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2008281" cy="1830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0333A2-5593-6F26-9CDE-A2A432F6D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083" y="1440759"/>
            <a:ext cx="2483585" cy="188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27234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1FB90-8ACD-F670-811D-4A281658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5D1E5A-A428-E165-DC0D-B286B1CF13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0" dirty="0"/>
              <a:t>EfficientNetB0</a:t>
            </a:r>
            <a:r>
              <a:rPr spc="-30" dirty="0"/>
              <a:t>:</a:t>
            </a:r>
            <a:r>
              <a:rPr spc="55" dirty="0"/>
              <a:t> </a:t>
            </a:r>
            <a:r>
              <a:rPr spc="-20" dirty="0"/>
              <a:t>Normal</a:t>
            </a:r>
            <a:r>
              <a:rPr spc="-70" dirty="0"/>
              <a:t> </a:t>
            </a:r>
            <a:r>
              <a:rPr dirty="0"/>
              <a:t>vs.</a:t>
            </a:r>
            <a:r>
              <a:rPr spc="55" dirty="0"/>
              <a:t> </a:t>
            </a:r>
            <a:r>
              <a:rPr dirty="0"/>
              <a:t>Viral</a:t>
            </a:r>
            <a:r>
              <a:rPr spc="-65" dirty="0"/>
              <a:t> </a:t>
            </a:r>
            <a:r>
              <a:rPr spc="-30" dirty="0"/>
              <a:t>Pneumonia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65FA7F9-CDBB-FA92-6615-C5799F31EE7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DCD884D-F380-15F0-AAAB-8FFFE6CCC00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B301F27-3A11-7DF1-A791-FF99186F3F5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16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82FAF-1A18-5D09-D386-EC4CFA39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4" y="376075"/>
            <a:ext cx="4133852" cy="294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99730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A58A-1A92-77C2-F416-74C33FB3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CAD6993-9530-AA08-916B-2AE925F89E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 DenseNet-121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2A06739-7464-E357-2BF5-BA2F500D0B8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C1F9661-F335-4443-D12D-6DD21996F36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1DCC60C-4EFA-17C0-D7D3-CE34D9D43E4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17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54E9EE-87E5-0D07-1531-84EDD36C1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" y="358775"/>
            <a:ext cx="4528285" cy="277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89502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CE24-06C9-20B3-A070-9F6A9E28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1798B9-426A-167E-4EB8-7CB38423E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 DenseNet-121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787976-AEC8-AE25-46CE-00723B1728F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AC5A4E8-980A-064A-A503-BC5A9092095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2F783BA-631A-8E7C-468F-4B28F53DE53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18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7EE2E-C513-7EC4-DE6E-B98C76DDD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2152650" cy="1692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7E2845-2061-51E5-1E78-DFB81C86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1425575"/>
            <a:ext cx="2152650" cy="171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505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0" dirty="0"/>
              <a:t>DenseNet-121</a:t>
            </a:r>
            <a:r>
              <a:rPr spc="-30" dirty="0"/>
              <a:t>:</a:t>
            </a:r>
            <a:r>
              <a:rPr spc="55" dirty="0"/>
              <a:t> </a:t>
            </a:r>
            <a:r>
              <a:rPr spc="-20" dirty="0"/>
              <a:t>Normal</a:t>
            </a:r>
            <a:r>
              <a:rPr spc="-70" dirty="0"/>
              <a:t> </a:t>
            </a:r>
            <a:r>
              <a:rPr dirty="0"/>
              <a:t>vs.</a:t>
            </a:r>
            <a:r>
              <a:rPr spc="55" dirty="0"/>
              <a:t> </a:t>
            </a:r>
            <a:r>
              <a:rPr dirty="0"/>
              <a:t>Viral</a:t>
            </a:r>
            <a:r>
              <a:rPr spc="-65" dirty="0"/>
              <a:t> </a:t>
            </a:r>
            <a:r>
              <a:rPr spc="-30" dirty="0"/>
              <a:t>Pneumonia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19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4965F-DB54-B88C-01F7-C9424ABC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1" y="397102"/>
            <a:ext cx="4300956" cy="30636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5BAC-E128-C010-9E5A-5BA766DD2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1038A9-E2CE-B07F-E1CE-7377DB46F5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ResNet-50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07FAB16-D516-4D11-8A3C-EBC68076062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9F93A5F-1E51-410A-4511-715B8FFE05C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39D54B3-ECD4-2E13-75C0-8F29962AAAC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20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D3FC21-3596-0A98-52AA-7EC6F42BA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11303"/>
            <a:ext cx="4308909" cy="278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02255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D14F4-6A99-AFD7-9722-8B0C93D9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86A352-95E0-7578-0115-6EE8FF123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ResNet-50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5F6EE93-CBD2-25D4-65F5-6D2BFC0C986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F3C71D2-AF47-7075-F1E6-6DA090B6688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5A84E74-A459-96B1-A64C-18DFF03E416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21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F72688-D347-A459-8C59-2992BA4C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75"/>
            <a:ext cx="2259106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1C6BBE-C7FB-E61A-F2C9-24B0E7CFD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68" y="1349375"/>
            <a:ext cx="2249217" cy="184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56793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30" dirty="0"/>
              <a:t>ResNet-50</a:t>
            </a:r>
            <a:r>
              <a:rPr spc="-30" dirty="0"/>
              <a:t>:</a:t>
            </a:r>
            <a:r>
              <a:rPr spc="55" dirty="0"/>
              <a:t> </a:t>
            </a:r>
            <a:r>
              <a:rPr spc="-20" dirty="0"/>
              <a:t>Normal</a:t>
            </a:r>
            <a:r>
              <a:rPr spc="-70" dirty="0"/>
              <a:t> </a:t>
            </a:r>
            <a:r>
              <a:rPr dirty="0"/>
              <a:t>vs.</a:t>
            </a:r>
            <a:r>
              <a:rPr spc="55" dirty="0"/>
              <a:t> </a:t>
            </a:r>
            <a:r>
              <a:rPr dirty="0"/>
              <a:t>Viral</a:t>
            </a:r>
            <a:r>
              <a:rPr spc="-65" dirty="0"/>
              <a:t> </a:t>
            </a:r>
            <a:r>
              <a:rPr spc="-30" dirty="0"/>
              <a:t>Pneumonia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22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B9CA05-9C5D-0B4C-DE7C-909F7262E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13" y="344146"/>
            <a:ext cx="4242757" cy="311505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55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20" dirty="0"/>
              <a:t>Future</a:t>
            </a:r>
            <a:r>
              <a:rPr spc="-55"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227544"/>
            <a:ext cx="65201" cy="652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448" y="1843442"/>
            <a:ext cx="65201" cy="6520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915" y="1817179"/>
            <a:ext cx="52527" cy="525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915" y="1969008"/>
            <a:ext cx="52527" cy="525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402932" y="1100249"/>
            <a:ext cx="3807118" cy="1426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lang="en-US" spc="-65" dirty="0"/>
              <a:t>DenseNet-121</a:t>
            </a:r>
            <a:r>
              <a:rPr spc="-5" dirty="0"/>
              <a:t> </a:t>
            </a:r>
            <a:r>
              <a:rPr spc="-65" dirty="0"/>
              <a:t>achieved</a:t>
            </a:r>
            <a:r>
              <a:rPr spc="-5" dirty="0"/>
              <a:t> </a:t>
            </a:r>
            <a:r>
              <a:rPr spc="-40" dirty="0"/>
              <a:t>highest</a:t>
            </a:r>
            <a:r>
              <a:rPr dirty="0"/>
              <a:t> </a:t>
            </a:r>
            <a:r>
              <a:rPr spc="-55" dirty="0"/>
              <a:t>accuracy</a:t>
            </a:r>
            <a:r>
              <a:rPr lang="en-US" spc="-55" dirty="0"/>
              <a:t>, precision and sensi</a:t>
            </a:r>
            <a:r>
              <a:rPr lang="en-US" spc="-5" dirty="0"/>
              <a:t>tivity.</a:t>
            </a:r>
          </a:p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lang="en-US" spc="-65" dirty="0"/>
              <a:t>ResNEt-50_5 fold achieved</a:t>
            </a:r>
            <a:r>
              <a:rPr lang="en-US" spc="-5" dirty="0"/>
              <a:t> </a:t>
            </a:r>
            <a:r>
              <a:rPr lang="en-US" spc="-40" dirty="0"/>
              <a:t>highest</a:t>
            </a:r>
            <a:r>
              <a:rPr lang="en-US" dirty="0"/>
              <a:t> </a:t>
            </a:r>
            <a:r>
              <a:rPr lang="en-US" spc="-55" dirty="0"/>
              <a:t>accuracy, precision and sensi</a:t>
            </a:r>
            <a:r>
              <a:rPr lang="en-US" spc="-5" dirty="0"/>
              <a:t>tivity</a:t>
            </a:r>
            <a:br>
              <a:rPr lang="en-US" spc="-45" dirty="0"/>
            </a:br>
            <a:r>
              <a:rPr spc="-75" dirty="0"/>
              <a:t>De</a:t>
            </a:r>
            <a:r>
              <a:rPr lang="en-US" spc="-75" dirty="0"/>
              <a:t>e</a:t>
            </a:r>
            <a:r>
              <a:rPr spc="-75" dirty="0"/>
              <a:t>p</a:t>
            </a:r>
            <a:r>
              <a:rPr dirty="0"/>
              <a:t> </a:t>
            </a:r>
            <a:r>
              <a:rPr spc="-40" dirty="0"/>
              <a:t>learning</a:t>
            </a:r>
            <a:r>
              <a:rPr spc="-30" dirty="0"/>
              <a:t> </a:t>
            </a:r>
            <a:r>
              <a:rPr spc="-45" dirty="0"/>
              <a:t>can</a:t>
            </a:r>
            <a:r>
              <a:rPr spc="-10" dirty="0"/>
              <a:t> aid</a:t>
            </a:r>
            <a:r>
              <a:rPr spc="-15" dirty="0"/>
              <a:t> </a:t>
            </a:r>
            <a:r>
              <a:rPr spc="-20" dirty="0"/>
              <a:t>rapid</a:t>
            </a:r>
            <a:r>
              <a:rPr spc="-15" dirty="0"/>
              <a:t> </a:t>
            </a:r>
            <a:r>
              <a:rPr spc="-55" dirty="0"/>
              <a:t>pneumonia</a:t>
            </a:r>
            <a:r>
              <a:rPr spc="-10" dirty="0"/>
              <a:t> diagnosis.</a:t>
            </a: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Fu</a:t>
            </a:r>
            <a:r>
              <a:rPr lang="en-US" spc="-25" dirty="0"/>
              <a:t>t</a:t>
            </a:r>
            <a:r>
              <a:rPr spc="-25" dirty="0"/>
              <a:t>ure</a:t>
            </a:r>
            <a:r>
              <a:rPr spc="-15" dirty="0"/>
              <a:t> </a:t>
            </a:r>
            <a:r>
              <a:rPr spc="-20" dirty="0"/>
              <a:t>work:</a:t>
            </a:r>
          </a:p>
          <a:p>
            <a:pPr marL="289560" marR="1730375">
              <a:lnSpc>
                <a:spcPct val="100000"/>
              </a:lnSpc>
              <a:spcBef>
                <a:spcPts val="175"/>
              </a:spcBef>
            </a:pPr>
            <a:r>
              <a:rPr sz="1000" spc="-30" dirty="0"/>
              <a:t>Multi-</a:t>
            </a:r>
            <a:r>
              <a:rPr sz="1000" spc="-10" dirty="0"/>
              <a:t>class</a:t>
            </a:r>
            <a:r>
              <a:rPr sz="1000" spc="-5" dirty="0"/>
              <a:t> </a:t>
            </a:r>
            <a:r>
              <a:rPr sz="1000" spc="-35" dirty="0"/>
              <a:t>classification </a:t>
            </a:r>
            <a:endParaRPr lang="en-US" sz="1000" spc="-35" dirty="0"/>
          </a:p>
          <a:p>
            <a:pPr marL="289560" marR="1730375">
              <a:lnSpc>
                <a:spcPct val="100000"/>
              </a:lnSpc>
              <a:spcBef>
                <a:spcPts val="175"/>
              </a:spcBef>
            </a:pPr>
            <a:r>
              <a:rPr sz="1000" spc="-35" dirty="0"/>
              <a:t>Larger</a:t>
            </a:r>
            <a:r>
              <a:rPr sz="1000" spc="-20" dirty="0"/>
              <a:t> </a:t>
            </a:r>
            <a:r>
              <a:rPr sz="1000" spc="-10" dirty="0"/>
              <a:t>datasets</a:t>
            </a:r>
            <a:endParaRPr sz="1000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23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6833A3-66B5-34C9-0EAF-2CE9B6360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281166" y="1417545"/>
            <a:ext cx="65200" cy="65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8AAF3-9AF9-70A5-8E6B-17A616BBD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>
            <a:extLst>
              <a:ext uri="{FF2B5EF4-FFF2-40B4-BE49-F238E27FC236}">
                <a16:creationId xmlns:a16="http://schemas.microsoft.com/office/drawing/2014/main" id="{19A85158-724D-9E16-7282-DCE79553DCB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46BEA3B-58A6-315E-FBFF-19257E175E7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C064FAF-F9E3-2524-00DD-FDF93DE1BA4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24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E331FD-026F-D4C7-BB62-290D05E0B7CC}"/>
              </a:ext>
            </a:extLst>
          </p:cNvPr>
          <p:cNvSpPr txBox="1"/>
          <p:nvPr/>
        </p:nvSpPr>
        <p:spPr>
          <a:xfrm>
            <a:off x="323850" y="1120775"/>
            <a:ext cx="39771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SOME OTHER RESULTS</a:t>
            </a:r>
          </a:p>
        </p:txBody>
      </p:sp>
    </p:spTree>
    <p:extLst>
      <p:ext uri="{BB962C8B-B14F-4D97-AF65-F5344CB8AC3E}">
        <p14:creationId xmlns:p14="http://schemas.microsoft.com/office/powerpoint/2010/main" val="3053461579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2D258-0662-2741-EDF0-5807C404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9EF9E5A-E670-3E67-DC4B-B1190C470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CNN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A825894-5A18-E713-B3CF-8B1A313D607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B68967C-3D08-EE88-E2C5-526FC9D9D7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947FB74-4312-107B-28CC-602EF3A1007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25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7773B-86C0-4ED2-9618-555BF84E8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22931"/>
            <a:ext cx="261021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90783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EA696-0EA6-3E90-A4CF-9B0ECB8E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BEF28D-8EC5-32A4-61AA-9D1A7479B1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EfficientNetB0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CDF6E86-EA81-5238-6292-237AAF33464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5060DB3-8A8C-E85D-AEF7-E774BB9EC42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4B66FFE-8358-22AB-8434-691A9461362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26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C6C0CB-5E5E-E392-A501-63F96EAA8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48" y="439557"/>
            <a:ext cx="271500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2256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CD03-E9CF-635B-5045-546B1DE98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3A7778-3C68-7125-37D7-2AFEE5F84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 DenseNet-121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5BE6B26-B75C-F598-7F84-226DCCAB7CF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8A37067-426C-F8CA-4071-38FA037706C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April</a:t>
            </a:r>
            <a:r>
              <a:rPr spc="35" dirty="0"/>
              <a:t> </a:t>
            </a:r>
            <a:r>
              <a:rPr dirty="0"/>
              <a:t>27,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633491A-45E9-E89C-E9AD-8612D14412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27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21A85C-B4D8-87F1-428D-1FD409399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733" y="348347"/>
            <a:ext cx="2422757" cy="311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768647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70F44-4FA6-D32A-9014-28EA5066C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125490-CD1A-5C39-349F-2AEA0BB58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27914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10" dirty="0"/>
              <a:t>ResNet-50</a:t>
            </a:r>
            <a:endParaRPr spc="-1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7BFD2B4-2DC1-F1C9-9D1C-E9E978F4716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pc="-65" dirty="0"/>
              <a:t>n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2CA0CE2-7722-FD0A-2981-B6EBFB971C3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475240" y="3322038"/>
            <a:ext cx="502920" cy="11669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lang="en-US" dirty="0"/>
              <a:t>May 04</a:t>
            </a:r>
            <a:r>
              <a:rPr dirty="0"/>
              <a:t>,</a:t>
            </a:r>
            <a:r>
              <a:rPr spc="40" dirty="0"/>
              <a:t> </a:t>
            </a:r>
            <a:r>
              <a:rPr spc="-20" dirty="0"/>
              <a:t>2026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A64F24E-EB8B-0594-4FE4-7EC46FA2631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30" dirty="0"/>
              <a:t>28</a:t>
            </a:fld>
            <a:r>
              <a:rPr spc="-60" dirty="0"/>
              <a:t> </a:t>
            </a:r>
            <a:r>
              <a:rPr spc="150" dirty="0"/>
              <a:t>/</a:t>
            </a:r>
            <a:r>
              <a:rPr spc="-60" dirty="0"/>
              <a:t> </a:t>
            </a:r>
            <a:r>
              <a:rPr spc="-35" dirty="0"/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1EFFB-2998-B9E4-6628-3A8B9143F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759" y="388459"/>
            <a:ext cx="2244091" cy="305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42450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4376</TotalTime>
  <Words>607</Words>
  <Application>Microsoft Office PowerPoint</Application>
  <PresentationFormat>Custom</PresentationFormat>
  <Paragraphs>150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Black</vt:lpstr>
      <vt:lpstr>Arial MT</vt:lpstr>
      <vt:lpstr>Cambria Math</vt:lpstr>
      <vt:lpstr>Tahoma</vt:lpstr>
      <vt:lpstr>Office Theme</vt:lpstr>
      <vt:lpstr>PowerPoint Presentation</vt:lpstr>
      <vt:lpstr>Introduction</vt:lpstr>
      <vt:lpstr>Dataset Overview</vt:lpstr>
      <vt:lpstr>Preprocessing and Augmentation</vt:lpstr>
      <vt:lpstr>PowerPoint Presentation</vt:lpstr>
      <vt:lpstr>Baseline CNN Model</vt:lpstr>
      <vt:lpstr>EﬀicientNetB0 Transfer Learning</vt:lpstr>
      <vt:lpstr>DenseNet-121</vt:lpstr>
      <vt:lpstr>ResNet-50</vt:lpstr>
      <vt:lpstr>Hyperparameter Tuning</vt:lpstr>
      <vt:lpstr>PowerPoint Presentation</vt:lpstr>
      <vt:lpstr>RESULTS  (5-FOLD CROSS VALIDATION) </vt:lpstr>
      <vt:lpstr>CNN </vt:lpstr>
      <vt:lpstr>EﬀicientNetB0</vt:lpstr>
      <vt:lpstr>EﬀicientNetB0</vt:lpstr>
      <vt:lpstr>EfficientNetB0: Normal vs. Viral Pneumonia</vt:lpstr>
      <vt:lpstr> DenseNet-121</vt:lpstr>
      <vt:lpstr> DenseNet-121</vt:lpstr>
      <vt:lpstr>DenseNet-121: Normal vs. Viral Pneumonia</vt:lpstr>
      <vt:lpstr>ResNet-50</vt:lpstr>
      <vt:lpstr>ResNet-50</vt:lpstr>
      <vt:lpstr>ResNet-50: Normal vs. Viral Pneumonia</vt:lpstr>
      <vt:lpstr>Conclusion and Future Work</vt:lpstr>
      <vt:lpstr>PowerPoint Presentation</vt:lpstr>
      <vt:lpstr>CNN</vt:lpstr>
      <vt:lpstr>EfficientNetB0</vt:lpstr>
      <vt:lpstr> DenseNet-121</vt:lpstr>
      <vt:lpstr>ResNet-50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 X-Ray Classification Using CNN and EfficientNetB0 - Normal vs Viral Pneumonia Detection</dc:title>
  <dc:creator>Bilal Sikandar Junaid Dooast Haji M. Husnain Ashfaq Sara Nargis</dc:creator>
  <cp:lastModifiedBy>M.Husnain Ashfaq</cp:lastModifiedBy>
  <cp:revision>7</cp:revision>
  <dcterms:created xsi:type="dcterms:W3CDTF">2026-04-27T21:23:21Z</dcterms:created>
  <dcterms:modified xsi:type="dcterms:W3CDTF">2026-05-09T08:27:01Z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2026-04-27T00:00:00Z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2026-04-27T00:00:00Z</vt:filetime>
  </property>
</Properties>
</file>